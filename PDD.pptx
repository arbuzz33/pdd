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3"/>
    <p:sldId id="257" r:id="rId4"/>
    <p:sldId id="258" r:id="rId5"/>
    <p:sldId id="268" r:id="rId6"/>
    <p:sldId id="262" r:id="rId7"/>
    <p:sldId id="264" r:id="rId8"/>
    <p:sldId id="265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78"/>
    <p:restoredTop sz="94723"/>
  </p:normalViewPr>
  <p:slideViewPr>
    <p:cSldViewPr snapToGrid="0">
      <p:cViewPr varScale="1">
        <p:scale>
          <a:sx n="60" d="100"/>
          <a:sy n="60" d="100"/>
        </p:scale>
        <p:origin x="91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40642B-7644-400A-8C25-141B154B8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22586E-D760-4DE4-9E29-BB15839FE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8B7A0FD-FA6B-4E71-9C44-C89B2AF35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A5C4B9B-C53E-46AE-93AE-8AD62A1A0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6002EF-C506-406B-AB61-324DBAB8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9305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D016DD-0532-4A98-BF10-4DD5FBAF1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FE7F9B-8E2F-427C-AC35-B65C5F11C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B4EC252-0B03-4FEE-A0DF-3DD8DA8F8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E999E51-1FE0-406E-8F15-D8E277DCF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4B59C98-C20A-44C2-9476-C7B1E49F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6864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2CBDD0-FD93-45BA-89A2-07BBD8FA1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800E82B-9509-4AB1-BC50-1C420A730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616CF0-9082-4EAB-9B98-6B707D940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4FB2BA-402E-4105-BC9C-4615F15E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662D733-B398-47EE-A620-8CBDCFA7A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8241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60168D-779C-431F-AB99-743C2FFD7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0CEC12-8E73-45CA-9EE4-94E6409168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02913E0-19FA-4A88-A425-E7DEFB4747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FC7D15-802E-475A-A0D3-5FCC2F594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3516ABF-337F-45F6-8446-43C68AB02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E885754-A2E8-4B1A-9164-5A993A503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405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F6D581-F73F-48DF-BC00-9D3E59ED0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0283FB7-B84B-4F26-9E2D-5428689C34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5FEF17C-782E-44BB-8A34-A85E21DF3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18237C39-B161-4D26-BE25-E684429010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DC9255E-82D3-44BF-B688-29811383F0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28EADE4-EE66-4FCD-9BEB-EE76D4BC5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895F07-BB37-499E-888B-9C215523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83095E-AA62-448D-8866-89108C9F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9833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B35BC4-0A35-40AB-82C8-100D7911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8E420C9-99BD-48BB-96FD-B0B4E7F3D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27F320-A0C2-4127-BA05-7583C8793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7BFF747-4919-4E0C-824C-97F7EDE3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3225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D02CDD6-34D7-4282-B451-1A76AD4F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42CBBDF-AA91-4CF4-A440-FB0BC2DB0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CE9684-CD87-4932-8B28-7711B33A4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649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5083DA-4246-4754-9005-A2988A905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B8E7D0-871F-4835-B836-9CFCEC4E0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3647035-F6B6-4D3C-BBB0-DCE535BE10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5C5707-E133-4D55-8275-625647A97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7F08057-FBB9-4916-8879-CA9C1C3C0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F54B84-8004-4A97-A9B2-C46EB7060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7471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943347-22BC-4A92-807F-0745EEB8A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061F37-18C6-4449-949A-7F29143374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CA894B-D628-4826-BA39-F452AD0710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CEED324-99C1-41E5-954A-6CB7ACD62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9CBB64-A28F-4F12-9FA3-4D657CD7F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27B9918-EC0A-4F9F-ADF5-4114AC40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941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7E654-B013-4AE1-B629-F996CD64D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23930CB-1425-4D5F-A7C0-9213F5D6DF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B6F47CF-2616-4E2C-9354-95252205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8FDDEE-040C-407B-95C7-BB0947861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88DC90-DFDE-4D66-8F49-433E7EF37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2725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8135807-8665-40AD-A194-CD61BFB56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F4598E-4892-4084-AD29-9A7984C4D7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6C189AE-FFAD-453C-A6DD-7F757E26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9EB621-707F-4578-9C8B-A182D5EC7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D56686-FEAF-400E-9B9F-E812AEE32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567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DC862-EE89-4991-98F0-C75E2102A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505A03C-656D-4E80-959F-42F7597C11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F5A06F-A780-4B9C-ABFC-C087DD577A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162680-E6D0-4128-AB2B-3DCCBE8A049F}" type="datetimeFigureOut">
              <a:rPr lang="ru-RU" smtClean="0"/>
              <a:t>20.05.2026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8CB72C-E4AE-462B-BEE2-B8FCA14E45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E065E60-072C-4703-8727-7CE962995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4CA8D-D3C5-42BF-995D-D45501F5C26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301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7650E9-182D-43C0-AA16-637D8255A1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34829" y="2828401"/>
            <a:ext cx="7922342" cy="1201198"/>
          </a:xfrm>
        </p:spPr>
        <p:txBody>
          <a:bodyPr>
            <a:normAutofit/>
          </a:bodyPr>
          <a:lstStyle/>
          <a:p>
            <a:pPr algn="l"/>
            <a:r>
              <a:rPr lang="ru-RU" sz="4000" dirty="0"/>
              <a:t>Создание программы для глубокой диагностики дисков – </a:t>
            </a:r>
            <a:r>
              <a:rPr lang="ru-RU" sz="4000" dirty="0" err="1"/>
              <a:t>pdd</a:t>
            </a:r>
            <a:endParaRPr lang="ru-RU" sz="4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0F35945-41C2-4166-A727-ED12605AF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7781" y="5947673"/>
            <a:ext cx="5614219" cy="910327"/>
          </a:xfrm>
        </p:spPr>
        <p:txBody>
          <a:bodyPr>
            <a:normAutofit/>
          </a:bodyPr>
          <a:lstStyle/>
          <a:p>
            <a:pPr algn="l"/>
            <a:r>
              <a:rPr lang="ru-RU" sz="1600" dirty="0">
                <a:solidFill>
                  <a:schemeClr val="bg2">
                    <a:lumMod val="50000"/>
                  </a:schemeClr>
                </a:solidFill>
              </a:rPr>
              <a:t>Команда проекта: Планов Богдан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, </a:t>
            </a:r>
            <a:r>
              <a:rPr lang="ru-RU" sz="1600" dirty="0" err="1">
                <a:solidFill>
                  <a:schemeClr val="bg2">
                    <a:lumMod val="50000"/>
                  </a:schemeClr>
                </a:solidFill>
              </a:rPr>
              <a:t>Краснодубский</a:t>
            </a:r>
            <a:r>
              <a:rPr lang="ru-RU" sz="1600" dirty="0">
                <a:solidFill>
                  <a:schemeClr val="bg2">
                    <a:lumMod val="50000"/>
                  </a:schemeClr>
                </a:solidFill>
              </a:rPr>
              <a:t> Илья</a:t>
            </a:r>
          </a:p>
          <a:p>
            <a:pPr algn="l"/>
            <a:r>
              <a:rPr lang="ru-RU" sz="1600" dirty="0">
                <a:solidFill>
                  <a:schemeClr val="bg2">
                    <a:lumMod val="50000"/>
                  </a:schemeClr>
                </a:solidFill>
              </a:rPr>
              <a:t>Научный руководитель: Горбунова Елена Владимировна</a:t>
            </a:r>
          </a:p>
        </p:txBody>
      </p:sp>
      <p:sp>
        <p:nvSpPr>
          <p:cNvPr id="4" name="Подзаголовок 2">
            <a:extLst>
              <a:ext uri="{FF2B5EF4-FFF2-40B4-BE49-F238E27FC236}">
                <a16:creationId xmlns:a16="http://schemas.microsoft.com/office/drawing/2014/main" id="{1694E6C9-5B48-FFC1-FE21-32C75F8B1DC0}"/>
              </a:ext>
            </a:extLst>
          </p:cNvPr>
          <p:cNvSpPr txBox="1">
            <a:spLocks/>
          </p:cNvSpPr>
          <p:nvPr/>
        </p:nvSpPr>
        <p:spPr>
          <a:xfrm>
            <a:off x="1394791" y="19878"/>
            <a:ext cx="9402417" cy="4671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>
                <a:solidFill>
                  <a:schemeClr val="bg2">
                    <a:lumMod val="50000"/>
                  </a:schemeClr>
                </a:solidFill>
              </a:rPr>
              <a:t>Муниципальное автономное образовательное учреждение «Средняя общеобразовательная школа №85»</a:t>
            </a:r>
          </a:p>
        </p:txBody>
      </p:sp>
    </p:spTree>
    <p:extLst>
      <p:ext uri="{BB962C8B-B14F-4D97-AF65-F5344CB8AC3E}">
        <p14:creationId xmlns:p14="http://schemas.microsoft.com/office/powerpoint/2010/main" val="4095671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41135" y="0"/>
            <a:ext cx="3309730" cy="1325563"/>
          </a:xfrm>
        </p:spPr>
        <p:txBody>
          <a:bodyPr/>
          <a:lstStyle/>
          <a:p>
            <a:r>
              <a:rPr lang="ru-RU" altLang="en-GB" dirty="0"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/>
          <a:lstStyle/>
          <a:p>
            <a:r>
              <a:rPr lang="ru-RU" dirty="0"/>
              <a:t>Растущая популярность </a:t>
            </a:r>
            <a:r>
              <a:rPr lang="en-US" dirty="0"/>
              <a:t>Linux </a:t>
            </a:r>
            <a:r>
              <a:rPr lang="ru-RU" dirty="0"/>
              <a:t>на фоне проблем с</a:t>
            </a:r>
            <a:r>
              <a:rPr lang="en-US" altLang="ru-RU" dirty="0"/>
              <a:t> </a:t>
            </a:r>
            <a:r>
              <a:rPr lang="ru-RU" altLang="ru-RU" dirty="0"/>
              <a:t>новыми версиями</a:t>
            </a:r>
            <a:r>
              <a:rPr lang="ru-RU" dirty="0"/>
              <a:t> </a:t>
            </a:r>
            <a:r>
              <a:rPr lang="en-US" dirty="0"/>
              <a:t>Windows</a:t>
            </a:r>
            <a:r>
              <a:rPr lang="ru-RU" altLang="en-US" dirty="0"/>
              <a:t>,</a:t>
            </a:r>
            <a:r>
              <a:rPr lang="ru-RU" dirty="0"/>
              <a:t> ограничением услуг </a:t>
            </a:r>
            <a:r>
              <a:rPr lang="en-US" dirty="0"/>
              <a:t>Microsoft</a:t>
            </a:r>
            <a:r>
              <a:rPr lang="ru-RU" altLang="en-US" dirty="0"/>
              <a:t> и переводом многих компьютеров на </a:t>
            </a:r>
            <a:r>
              <a:rPr lang="en-US" altLang="en-US" dirty="0"/>
              <a:t>Astra Linux</a:t>
            </a:r>
            <a:r>
              <a:rPr lang="ru-RU" altLang="en-US" dirty="0"/>
              <a:t> в РФ</a:t>
            </a:r>
            <a:r>
              <a:rPr lang="en-US" altLang="en-US" dirty="0"/>
              <a:t>.</a:t>
            </a:r>
            <a:endParaRPr lang="en-US" dirty="0"/>
          </a:p>
          <a:p>
            <a:r>
              <a:rPr lang="ru-RU" dirty="0"/>
              <a:t>Узкий выбор и функционал аналогов продукта проекта, а также их узконаправленность и необходимость в наличии графической оболочки, а соответственно, отсутствие возможности использовать эти программы при проблемах с ней.</a:t>
            </a:r>
          </a:p>
          <a:p>
            <a:r>
              <a:rPr lang="ru-RU" altLang="ru-RU" dirty="0"/>
              <a:t>Нет единой программы для выполнения таких задач на разных ОС</a:t>
            </a:r>
            <a:endParaRPr lang="en-US" altLang="ru-RU" dirty="0"/>
          </a:p>
        </p:txBody>
      </p:sp>
      <p:pic>
        <p:nvPicPr>
          <p:cNvPr id="1026" name="Picture 2" descr="Лампочка – Бесплатные иконки: технологии">
            <a:extLst>
              <a:ext uri="{FF2B5EF4-FFF2-40B4-BE49-F238E27FC236}">
                <a16:creationId xmlns:a16="http://schemas.microsoft.com/office/drawing/2014/main" id="{E2B2E68E-A86F-D1C3-A146-4B4C8F96F5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5078896"/>
            <a:ext cx="1779104" cy="1779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" y="2438400"/>
            <a:ext cx="4846320" cy="1981200"/>
          </a:xfrm>
        </p:spPr>
        <p:txBody>
          <a:bodyPr/>
          <a:lstStyle/>
          <a:p>
            <a:r>
              <a:rPr lang="ru-RU" b="1" dirty="0"/>
              <a:t>Цель:  </a:t>
            </a:r>
            <a:r>
              <a:rPr lang="ru-RU" dirty="0"/>
              <a:t>Создание и поддержка программы для глубокой диагностики дисков в среде GNU/Linux.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677567B-340A-449A-91B2-D1A70F31B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005840"/>
            <a:ext cx="4846319" cy="4846319"/>
          </a:xfrm>
          <a:prstGeom prst="rect">
            <a:avLst/>
          </a:prstGeom>
          <a:effectLst>
            <a:glow>
              <a:schemeClr val="accent1"/>
            </a:glow>
            <a:reflection blurRad="228600" stA="65000" endPos="0" dist="2413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033819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34EB2182-B5B8-4771-8A6D-D3BEFD62E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355" y="1699534"/>
            <a:ext cx="5081337" cy="4351338"/>
          </a:xfrm>
        </p:spPr>
        <p:txBody>
          <a:bodyPr>
            <a:normAutofit/>
          </a:bodyPr>
          <a:lstStyle/>
          <a:p>
            <a:r>
              <a:rPr lang="ru-RU" sz="2400" dirty="0"/>
              <a:t>1) Изучить служебные программы в различных ОС</a:t>
            </a:r>
            <a:endParaRPr lang="en-US" sz="2400" dirty="0"/>
          </a:p>
          <a:p>
            <a:r>
              <a:rPr lang="ru-RU" sz="2400" dirty="0"/>
              <a:t>2) Написать код, основывающийся на стандартных инструментах </a:t>
            </a:r>
            <a:r>
              <a:rPr lang="en-US" sz="2400" dirty="0"/>
              <a:t>Linux</a:t>
            </a:r>
          </a:p>
          <a:p>
            <a:r>
              <a:rPr lang="ru-RU" sz="2400" dirty="0"/>
              <a:t>3) Провести тестирование программы</a:t>
            </a:r>
            <a:endParaRPr lang="en-US" sz="2400" dirty="0"/>
          </a:p>
          <a:p>
            <a:r>
              <a:rPr lang="ru-RU" sz="2400" dirty="0"/>
              <a:t>4) Оптимизировать код программы</a:t>
            </a:r>
          </a:p>
          <a:p>
            <a:r>
              <a:rPr lang="ru-RU" sz="2400" dirty="0"/>
              <a:t>5) Сделать правки для облегчения портирования на UNIX-подобные ОС</a:t>
            </a:r>
            <a:endParaRPr lang="en-US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0B18CC-C877-43B2-B08C-758DEB4103BA}"/>
              </a:ext>
            </a:extLst>
          </p:cNvPr>
          <p:cNvSpPr txBox="1"/>
          <p:nvPr/>
        </p:nvSpPr>
        <p:spPr>
          <a:xfrm>
            <a:off x="577355" y="807128"/>
            <a:ext cx="41605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Задачи</a:t>
            </a:r>
            <a:r>
              <a:rPr lang="en-US" sz="3200" dirty="0"/>
              <a:t>:</a:t>
            </a:r>
            <a:endParaRPr lang="ru-RU" sz="32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79F22C9-0B4A-41A3-B036-44780EC439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582" t="-1672" b="-1"/>
          <a:stretch/>
        </p:blipFill>
        <p:spPr>
          <a:xfrm>
            <a:off x="5658692" y="-118872"/>
            <a:ext cx="6925056" cy="6976872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38334135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5D700-CE6E-3050-0764-52CB5B25BF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085" y="0"/>
            <a:ext cx="2515829" cy="668594"/>
          </a:xfrm>
        </p:spPr>
        <p:txBody>
          <a:bodyPr>
            <a:normAutofit fontScale="90000"/>
          </a:bodyPr>
          <a:lstStyle/>
          <a:p>
            <a:r>
              <a:rPr lang="ru-RU" dirty="0"/>
              <a:t>Аннотация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A942A6-8CB4-7B23-2DDE-C1535920952E}"/>
              </a:ext>
            </a:extLst>
          </p:cNvPr>
          <p:cNvSpPr txBox="1"/>
          <p:nvPr/>
        </p:nvSpPr>
        <p:spPr>
          <a:xfrm>
            <a:off x="1637068" y="668594"/>
            <a:ext cx="8917859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Наша программа (</a:t>
            </a:r>
            <a:r>
              <a:rPr lang="en-US" sz="2200" dirty="0" err="1"/>
              <a:t>pdd</a:t>
            </a:r>
            <a:r>
              <a:rPr lang="en-US" sz="2200" dirty="0"/>
              <a:t> – professional disk diagnostic</a:t>
            </a:r>
            <a:r>
              <a:rPr lang="ru-RU" sz="2200" dirty="0"/>
              <a:t>)</a:t>
            </a:r>
            <a:r>
              <a:rPr lang="en-US" sz="2200" dirty="0"/>
              <a:t> </a:t>
            </a:r>
            <a:r>
              <a:rPr lang="ru-RU" sz="2200" dirty="0"/>
              <a:t>предназначена для глубокой диагностики накопителей (</a:t>
            </a:r>
            <a:r>
              <a:rPr lang="en-US" sz="2200" dirty="0"/>
              <a:t>HDD, SSD, NVME, Flash</a:t>
            </a:r>
            <a:r>
              <a:rPr lang="ru-RU" sz="2200" dirty="0"/>
              <a:t>)</a:t>
            </a:r>
            <a:r>
              <a:rPr lang="en-US" sz="2200" dirty="0"/>
              <a:t>. </a:t>
            </a:r>
            <a:r>
              <a:rPr lang="ru-RU" sz="2200" dirty="0"/>
              <a:t>Она может вывести подробную информацию о дисковой подсистеме (конфигурация, температура, ошибки ввода/вывода), замерить скорость чтения/записи, провести проверку на битые сектора, проанализировать использование места на диске, отформатировать его. Работает из терминала и устанавливается одной командой.</a:t>
            </a: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A15736-758F-5A3F-9C4B-6DCB10CD5F0F}"/>
              </a:ext>
            </a:extLst>
          </p:cNvPr>
          <p:cNvSpPr txBox="1"/>
          <p:nvPr/>
        </p:nvSpPr>
        <p:spPr>
          <a:xfrm>
            <a:off x="1637067" y="3727194"/>
            <a:ext cx="891785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200" dirty="0"/>
              <a:t>Ожидаемая аудитория: системные администраторы ПК с </a:t>
            </a:r>
            <a:r>
              <a:rPr lang="en-US" sz="2200" dirty="0"/>
              <a:t>Linux, </a:t>
            </a:r>
            <a:r>
              <a:rPr lang="ru-RU" sz="2200" dirty="0"/>
              <a:t>пользователи </a:t>
            </a:r>
            <a:r>
              <a:rPr lang="en-US" sz="2200" dirty="0"/>
              <a:t>UNIX-</a:t>
            </a:r>
            <a:r>
              <a:rPr lang="ru-RU" sz="2200" dirty="0"/>
              <a:t>подобных ОС</a:t>
            </a:r>
            <a:endParaRPr lang="en-US" sz="2200" dirty="0"/>
          </a:p>
        </p:txBody>
      </p:sp>
      <p:pic>
        <p:nvPicPr>
          <p:cNvPr id="1026" name="Picture 2" descr="Почему linux должен быть единственной системой в образовательном процессе /  Хабр">
            <a:extLst>
              <a:ext uri="{FF2B5EF4-FFF2-40B4-BE49-F238E27FC236}">
                <a16:creationId xmlns:a16="http://schemas.microsoft.com/office/drawing/2014/main" id="{BD5A62D2-676F-15C0-B4B3-8FAFA5B12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7404" y="4496635"/>
            <a:ext cx="4277191" cy="2361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21265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9103" y="99391"/>
            <a:ext cx="4173794" cy="511277"/>
          </a:xfrm>
        </p:spPr>
        <p:txBody>
          <a:bodyPr>
            <a:normAutofit fontScale="90000"/>
          </a:bodyPr>
          <a:lstStyle/>
          <a:p>
            <a:r>
              <a:rPr lang="ru-RU" sz="4000" b="1" dirty="0"/>
              <a:t>Сравнение аналогов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8C7E40-AF7A-30D5-DDED-E3BA7EDA1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586978"/>
              </p:ext>
            </p:extLst>
          </p:nvPr>
        </p:nvGraphicFramePr>
        <p:xfrm>
          <a:off x="0" y="775251"/>
          <a:ext cx="12192000" cy="60827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5346903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6983107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5852980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29188740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75410463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2114634"/>
                    </a:ext>
                  </a:extLst>
                </a:gridCol>
              </a:tblGrid>
              <a:tr h="1190813">
                <a:tc>
                  <a:txBody>
                    <a:bodyPr/>
                    <a:lstStyle/>
                    <a:p>
                      <a:r>
                        <a:rPr lang="ru-RU" dirty="0"/>
                        <a:t>Название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Функционал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Платформа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Работа через </a:t>
                      </a:r>
                      <a:r>
                        <a:rPr lang="en-US" dirty="0"/>
                        <a:t>CLI (Command Line Interface)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Язык программирования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Внешние зависимости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7602508"/>
                  </a:ext>
                </a:extLst>
              </a:tr>
              <a:tr h="1297860">
                <a:tc>
                  <a:txBody>
                    <a:bodyPr/>
                    <a:lstStyle/>
                    <a:p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CrystalDiskInfo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Очень подробная информация о диске и его состоянии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8247"/>
                  </a:ext>
                </a:extLst>
              </a:tr>
              <a:tr h="998354">
                <a:tc>
                  <a:txBody>
                    <a:bodyPr/>
                    <a:lstStyle/>
                    <a:p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CrystalDisk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Настраиваемые замеры скорости диска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Windows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C++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0674983"/>
                  </a:ext>
                </a:extLst>
              </a:tr>
              <a:tr h="1297860">
                <a:tc>
                  <a:txBody>
                    <a:bodyPr/>
                    <a:lstStyle/>
                    <a:p>
                      <a:r>
                        <a:rPr lang="en-US" dirty="0"/>
                        <a:t>Baobab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 err="1"/>
                        <a:t>Анализация</a:t>
                      </a:r>
                      <a:r>
                        <a:rPr lang="ru-RU" dirty="0"/>
                        <a:t> использования дискового пространства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GNU/Linux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Только вывод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Vala+GTK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Gtk3, </a:t>
                      </a:r>
                      <a:r>
                        <a:rPr lang="en-US" dirty="0" err="1"/>
                        <a:t>gvfs</a:t>
                      </a:r>
                      <a:r>
                        <a:rPr lang="en-US" dirty="0"/>
                        <a:t>, gnome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7670672"/>
                  </a:ext>
                </a:extLst>
              </a:tr>
              <a:tr h="1297860">
                <a:tc>
                  <a:txBody>
                    <a:bodyPr/>
                    <a:lstStyle/>
                    <a:p>
                      <a:r>
                        <a:rPr lang="en-US" dirty="0"/>
                        <a:t>PDD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Совмещение частей вышеперечисленного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GNU/Linux (</a:t>
                      </a:r>
                      <a:r>
                        <a:rPr lang="ru-RU" dirty="0"/>
                        <a:t>в будущем другие </a:t>
                      </a:r>
                      <a:r>
                        <a:rPr lang="en-US" dirty="0"/>
                        <a:t>Unix-</a:t>
                      </a:r>
                      <a:r>
                        <a:rPr lang="ru-RU" dirty="0"/>
                        <a:t>подобные ОС</a:t>
                      </a:r>
                      <a:r>
                        <a:rPr lang="en-US" dirty="0"/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Есть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Нет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8318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983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358" y="238540"/>
            <a:ext cx="5125279" cy="764999"/>
          </a:xfrm>
        </p:spPr>
        <p:txBody>
          <a:bodyPr>
            <a:normAutofit/>
          </a:bodyPr>
          <a:lstStyle/>
          <a:p>
            <a:r>
              <a:rPr lang="ru-RU" sz="4000" dirty="0"/>
              <a:t>Дальнейшее  развитие</a:t>
            </a:r>
          </a:p>
        </p:txBody>
      </p:sp>
      <p:pic>
        <p:nvPicPr>
          <p:cNvPr id="2050" name="Picture 2" descr="Развитие">
            <a:extLst>
              <a:ext uri="{FF2B5EF4-FFF2-40B4-BE49-F238E27FC236}">
                <a16:creationId xmlns:a16="http://schemas.microsoft.com/office/drawing/2014/main" id="{FDC0DFEF-B865-A3A4-4B8C-50327729B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42004" y="4154557"/>
            <a:ext cx="2449995" cy="2703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7A9FA7-B1B1-62D8-C2C2-58149670A106}"/>
              </a:ext>
            </a:extLst>
          </p:cNvPr>
          <p:cNvSpPr txBox="1"/>
          <p:nvPr/>
        </p:nvSpPr>
        <p:spPr>
          <a:xfrm>
            <a:off x="1592745" y="1859339"/>
            <a:ext cx="900650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PDD</a:t>
            </a:r>
            <a:r>
              <a:rPr lang="ru-RU" sz="2200" dirty="0"/>
              <a:t> будет развиваться постепенно: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Будут добавляться новые команды: получение процента </a:t>
            </a:r>
            <a:r>
              <a:rPr lang="en-US" sz="2200" dirty="0"/>
              <a:t>S.M.A.R.T., </a:t>
            </a:r>
            <a:r>
              <a:rPr lang="ru-RU" sz="2200" dirty="0"/>
              <a:t>времени наработки, объём записанных данных и подобные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Будет порт для </a:t>
            </a:r>
            <a:r>
              <a:rPr lang="en-US" sz="2200" dirty="0"/>
              <a:t>MacOS, FreeBSD </a:t>
            </a:r>
            <a:r>
              <a:rPr lang="ru-RU" sz="2200" dirty="0"/>
              <a:t>и других </a:t>
            </a:r>
            <a:r>
              <a:rPr lang="en-US" sz="2200" dirty="0"/>
              <a:t>UNIX-</a:t>
            </a:r>
            <a:r>
              <a:rPr lang="ru-RU" sz="2200" dirty="0" err="1"/>
              <a:t>овых</a:t>
            </a:r>
            <a:r>
              <a:rPr lang="ru-RU" sz="2200" dirty="0"/>
              <a:t> ОС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Планируется добавление поддержки других архитектур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Будут собираться отчеты об ошибках и исправляться баги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200" dirty="0"/>
              <a:t>Планируется добавление этой программы в репозитории пакетных менеджеров (</a:t>
            </a:r>
            <a:r>
              <a:rPr lang="en-US" sz="2200" dirty="0"/>
              <a:t>apt, </a:t>
            </a:r>
            <a:r>
              <a:rPr lang="en-US" sz="2200" dirty="0" err="1"/>
              <a:t>pacman</a:t>
            </a:r>
            <a:r>
              <a:rPr lang="en-US" sz="2200" dirty="0"/>
              <a:t>, emerge, </a:t>
            </a:r>
            <a:r>
              <a:rPr lang="en-US" sz="2200" dirty="0" err="1"/>
              <a:t>dnf</a:t>
            </a:r>
            <a:r>
              <a:rPr lang="en-US" sz="2200" dirty="0"/>
              <a:t> </a:t>
            </a:r>
            <a:r>
              <a:rPr lang="ru-RU" sz="2200" dirty="0"/>
              <a:t>и других)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961248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943821-AECF-4A55-8E12-49D7F394ED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9408" y="2766218"/>
            <a:ext cx="8900160" cy="1325563"/>
          </a:xfrm>
        </p:spPr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pic>
        <p:nvPicPr>
          <p:cNvPr id="4" name="Picture 3" descr="A qr code with a few black squares&#10;&#10;AI-generated content may be incorrect.">
            <a:extLst>
              <a:ext uri="{FF2B5EF4-FFF2-40B4-BE49-F238E27FC236}">
                <a16:creationId xmlns:a16="http://schemas.microsoft.com/office/drawing/2014/main" id="{1BCFA2C3-0497-CAA5-FD7A-A8CB123723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9338" y="1187668"/>
            <a:ext cx="4482662" cy="44826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3BFE98-C350-885B-94B0-F90C27C73478}"/>
              </a:ext>
            </a:extLst>
          </p:cNvPr>
          <p:cNvSpPr txBox="1"/>
          <p:nvPr/>
        </p:nvSpPr>
        <p:spPr>
          <a:xfrm>
            <a:off x="9268431" y="818336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Наш </a:t>
            </a:r>
            <a:r>
              <a:rPr lang="en-US" dirty="0" err="1"/>
              <a:t>Github</a:t>
            </a:r>
            <a:r>
              <a:rPr lang="en-US" dirty="0"/>
              <a:t>:</a:t>
            </a:r>
          </a:p>
        </p:txBody>
      </p:sp>
      <p:pic>
        <p:nvPicPr>
          <p:cNvPr id="2052" name="Picture 4" descr="Gnu logo - Free Icon PNG, SVG">
            <a:extLst>
              <a:ext uri="{FF2B5EF4-FFF2-40B4-BE49-F238E27FC236}">
                <a16:creationId xmlns:a16="http://schemas.microsoft.com/office/drawing/2014/main" id="{393C2445-745E-64E0-6EE1-CAB0D4221B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7" y="5532435"/>
            <a:ext cx="1337441" cy="1337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38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</TotalTime>
  <Words>401</Words>
  <Application>Microsoft Office PowerPoint</Application>
  <PresentationFormat>Широкоэкранный</PresentationFormat>
  <Paragraphs>58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Создание программы для глубокой диагностики дисков – pdd</vt:lpstr>
      <vt:lpstr>Актуальность</vt:lpstr>
      <vt:lpstr>Презентация PowerPoint</vt:lpstr>
      <vt:lpstr>Презентация PowerPoint</vt:lpstr>
      <vt:lpstr>Аннотация</vt:lpstr>
      <vt:lpstr>Сравнение аналогов</vt:lpstr>
      <vt:lpstr>Дальнейшее  развитие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программы для глубокой диагностики дисков – pdd</dc:title>
  <dc:creator>Иван</dc:creator>
  <cp:lastModifiedBy>Горбунова Елена Владимировна</cp:lastModifiedBy>
  <cp:revision>22</cp:revision>
  <dcterms:created xsi:type="dcterms:W3CDTF">2026-03-01T07:13:28Z</dcterms:created>
  <dcterms:modified xsi:type="dcterms:W3CDTF">2026-05-20T07:46:38Z</dcterms:modified>
</cp:coreProperties>
</file>