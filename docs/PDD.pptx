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7" r:id="rId3"/>
    <p:sldId id="268" r:id="rId4"/>
    <p:sldId id="270" r:id="rId5"/>
    <p:sldId id="257" r:id="rId6"/>
    <p:sldId id="258" r:id="rId7"/>
    <p:sldId id="266" r:id="rId8"/>
    <p:sldId id="263" r:id="rId9"/>
    <p:sldId id="262" r:id="rId10"/>
    <p:sldId id="264" r:id="rId11"/>
    <p:sldId id="265" r:id="rId12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978"/>
    <p:restoredTop sz="94723"/>
  </p:normalViewPr>
  <p:slideViewPr>
    <p:cSldViewPr snapToGrid="0">
      <p:cViewPr varScale="1">
        <p:scale>
          <a:sx n="128" d="100"/>
          <a:sy n="128" d="100"/>
        </p:scale>
        <p:origin x="1928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E40642B-7644-400A-8C25-141B154B847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E222586E-D760-4DE4-9E29-BB15839FED4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C8B7A0FD-FA6B-4E71-9C44-C89B2AF352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162680-E6D0-4128-AB2B-3DCCBE8A049F}" type="datetimeFigureOut">
              <a:rPr lang="ru-RU" smtClean="0"/>
              <a:t>03.03.2026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8A5C4B9B-C53E-46AE-93AE-8AD62A1A09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A56002EF-C506-406B-AB61-324DBAB899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64CA8D-D3C5-42BF-995D-D45501F5C26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893059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4D016DD-0532-4A98-BF10-4DD5FBAF12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AFE7F9B-8E2F-427C-AC35-B65C5F11C4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7B4EC252-0B03-4FEE-A0DF-3DD8DA8F80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162680-E6D0-4128-AB2B-3DCCBE8A049F}" type="datetimeFigureOut">
              <a:rPr lang="ru-RU" smtClean="0"/>
              <a:t>03.03.2026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1E999E51-1FE0-406E-8F15-D8E277DCFC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4B59C98-C20A-44C2-9476-C7B1E49F77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64CA8D-D3C5-42BF-995D-D45501F5C26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768646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02CBDD0-FD93-45BA-89A2-07BBD8FA1B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5800E82B-9509-4AB1-BC50-1C420A730A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F616CF0-9082-4EAB-9B98-6B707D9401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162680-E6D0-4128-AB2B-3DCCBE8A049F}" type="datetimeFigureOut">
              <a:rPr lang="ru-RU" smtClean="0"/>
              <a:t>03.03.2026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1C4FB2BA-402E-4105-BC9C-4615F15E6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4662D733-B398-47EE-A620-8CBDCFA7A3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64CA8D-D3C5-42BF-995D-D45501F5C26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482412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760168D-779C-431F-AB99-743C2FFD72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40CEC12-8E73-45CA-9EE4-94E6409168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A02913E0-19FA-4A88-A425-E7DEFB4747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83FC7D15-802E-475A-A0D3-5FCC2F594B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162680-E6D0-4128-AB2B-3DCCBE8A049F}" type="datetimeFigureOut">
              <a:rPr lang="ru-RU" smtClean="0"/>
              <a:t>03.03.2026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B3516ABF-337F-45F6-8446-43C68AB029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CE885754-A2E8-4B1A-9164-5A993A5036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64CA8D-D3C5-42BF-995D-D45501F5C26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454054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9F6D581-F73F-48DF-BC00-9D3E59ED01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0283FB7-B84B-4F26-9E2D-5428689C346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F5FEF17C-782E-44BB-8A34-A85E21DF3A6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18237C39-B161-4D26-BE25-E6844290103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DDC9255E-82D3-44BF-B688-29811383F06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A28EADE4-EE66-4FCD-9BEB-EE76D4BC5F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162680-E6D0-4128-AB2B-3DCCBE8A049F}" type="datetimeFigureOut">
              <a:rPr lang="ru-RU" smtClean="0"/>
              <a:t>03.03.2026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60895F07-BB37-499E-888B-9C21552331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B283095E-AA62-448D-8866-89108C9F9E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64CA8D-D3C5-42BF-995D-D45501F5C26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298339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4B35BC4-0A35-40AB-82C8-100D791137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B8E420C9-99BD-48BB-96FD-B0B4E7F3DB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162680-E6D0-4128-AB2B-3DCCBE8A049F}" type="datetimeFigureOut">
              <a:rPr lang="ru-RU" smtClean="0"/>
              <a:t>03.03.2026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2A27F320-A0C2-4127-BA05-7583C8793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97BFF747-4919-4E0C-824C-97F7EDE3C8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64CA8D-D3C5-42BF-995D-D45501F5C26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332258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D02CDD6-34D7-4282-B451-1A76AD4FC4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162680-E6D0-4128-AB2B-3DCCBE8A049F}" type="datetimeFigureOut">
              <a:rPr lang="ru-RU" smtClean="0"/>
              <a:t>03.03.2026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C42CBBDF-AA91-4CF4-A440-FB0BC2DB08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8BCE9684-CD87-4932-8B28-7711B33A49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64CA8D-D3C5-42BF-995D-D45501F5C26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546494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B5083DA-4246-4754-9005-A2988A9053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1B8E7D0-871F-4835-B836-9CFCEC4E08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13647035-F6B6-4D3C-BBB0-DCE535BE104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235C5707-E133-4D55-8275-625647A979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162680-E6D0-4128-AB2B-3DCCBE8A049F}" type="datetimeFigureOut">
              <a:rPr lang="ru-RU" smtClean="0"/>
              <a:t>03.03.2026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67F08057-FBB9-4916-8879-CA9C1C3C06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37F54B84-8004-4A97-A9B2-C46EB7060F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64CA8D-D3C5-42BF-995D-D45501F5C26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074710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3943347-22BC-4A92-807F-0745EEB8A3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27061F37-18C6-4449-949A-7F291433745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E1CA894B-D628-4826-BA39-F452AD0710F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FCEED324-99C1-41E5-954A-6CB7ACD62D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162680-E6D0-4128-AB2B-3DCCBE8A049F}" type="datetimeFigureOut">
              <a:rPr lang="ru-RU" smtClean="0"/>
              <a:t>03.03.2026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9D9CBB64-A28F-4F12-9FA3-4D657CD7FF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927B9918-EC0A-4F9F-ADF5-4114AC4001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64CA8D-D3C5-42BF-995D-D45501F5C26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3394179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2D7E654-B013-4AE1-B629-F996CD64D9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F23930CB-1425-4D5F-A7C0-9213F5D6DFC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6B6F47CF-2616-4E2C-9354-95252205B5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162680-E6D0-4128-AB2B-3DCCBE8A049F}" type="datetimeFigureOut">
              <a:rPr lang="ru-RU" smtClean="0"/>
              <a:t>03.03.2026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E18FDDEE-040C-407B-95C7-BB09478615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6988DC90-DFDE-4D66-8F49-433E7EF370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64CA8D-D3C5-42BF-995D-D45501F5C26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052725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A8135807-8665-40AD-A194-CD61BFB5690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2BF4598E-4892-4084-AD29-9A7984C4D75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26C189AE-FFAD-453C-A6DD-7F757E26E9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162680-E6D0-4128-AB2B-3DCCBE8A049F}" type="datetimeFigureOut">
              <a:rPr lang="ru-RU" smtClean="0"/>
              <a:t>03.03.2026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BC9EB621-707F-4578-9C8B-A182D5EC79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BDD56686-FEAF-400E-9B9F-E812AEE320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64CA8D-D3C5-42BF-995D-D45501F5C26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235678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31DC862-EE89-4991-98F0-C75E2102AE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4505A03C-656D-4E80-959F-42F7597C11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4CF5A06F-A780-4B9C-ABFC-C087DD577AD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0162680-E6D0-4128-AB2B-3DCCBE8A049F}" type="datetimeFigureOut">
              <a:rPr lang="ru-RU" smtClean="0"/>
              <a:t>03.03.2026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EB8CB72C-E4AE-462B-BEE2-B8FCA14E45C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E065E60-072C-4703-8727-7CE9629959B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764CA8D-D3C5-42BF-995D-D45501F5C26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83014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C7650E9-182D-43C0-AA16-637D8255A1A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134829" y="2828401"/>
            <a:ext cx="7922342" cy="1201198"/>
          </a:xfrm>
        </p:spPr>
        <p:txBody>
          <a:bodyPr>
            <a:normAutofit/>
          </a:bodyPr>
          <a:lstStyle/>
          <a:p>
            <a:pPr algn="l"/>
            <a:r>
              <a:rPr lang="ru-RU" sz="4000" dirty="0"/>
              <a:t>Создание программы для глубокой диагностики дисков – </a:t>
            </a:r>
            <a:r>
              <a:rPr lang="ru-RU" sz="4000" dirty="0" err="1"/>
              <a:t>pdd</a:t>
            </a:r>
            <a:endParaRPr lang="ru-RU" sz="4000" dirty="0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90F35945-41C2-4166-A727-ED12605AF92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77781" y="5947673"/>
            <a:ext cx="5614219" cy="910327"/>
          </a:xfrm>
        </p:spPr>
        <p:txBody>
          <a:bodyPr>
            <a:normAutofit/>
          </a:bodyPr>
          <a:lstStyle/>
          <a:p>
            <a:pPr algn="l"/>
            <a:r>
              <a:rPr lang="ru-RU" sz="1600" dirty="0">
                <a:solidFill>
                  <a:schemeClr val="bg2">
                    <a:lumMod val="50000"/>
                  </a:schemeClr>
                </a:solidFill>
              </a:rPr>
              <a:t>Команда проекта: Планов Богдан Григорьевич, Атаманов Данила Евгеньевич, Чернышов Иван Максимович</a:t>
            </a:r>
          </a:p>
          <a:p>
            <a:pPr algn="l"/>
            <a:r>
              <a:rPr lang="ru-RU" sz="1600" dirty="0">
                <a:solidFill>
                  <a:schemeClr val="bg2">
                    <a:lumMod val="50000"/>
                  </a:schemeClr>
                </a:solidFill>
              </a:rPr>
              <a:t>Научный руководитель: Горбунова Елена Владимировна</a:t>
            </a:r>
          </a:p>
        </p:txBody>
      </p:sp>
      <p:sp>
        <p:nvSpPr>
          <p:cNvPr id="4" name="Подзаголовок 2">
            <a:extLst>
              <a:ext uri="{FF2B5EF4-FFF2-40B4-BE49-F238E27FC236}">
                <a16:creationId xmlns:a16="http://schemas.microsoft.com/office/drawing/2014/main" id="{1694E6C9-5B48-FFC1-FE21-32C75F8B1DC0}"/>
              </a:ext>
            </a:extLst>
          </p:cNvPr>
          <p:cNvSpPr txBox="1">
            <a:spLocks/>
          </p:cNvSpPr>
          <p:nvPr/>
        </p:nvSpPr>
        <p:spPr>
          <a:xfrm>
            <a:off x="1394791" y="19878"/>
            <a:ext cx="9402417" cy="46713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ru-RU" sz="1600" dirty="0">
                <a:solidFill>
                  <a:schemeClr val="bg2">
                    <a:lumMod val="50000"/>
                  </a:schemeClr>
                </a:solidFill>
              </a:rPr>
              <a:t>Муниципальное автономное образовательное учреждение «Средняя общеобразовательная школа №85»</a:t>
            </a:r>
          </a:p>
        </p:txBody>
      </p:sp>
    </p:spTree>
    <p:extLst>
      <p:ext uri="{BB962C8B-B14F-4D97-AF65-F5344CB8AC3E}">
        <p14:creationId xmlns:p14="http://schemas.microsoft.com/office/powerpoint/2010/main" val="40956716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1377DB-DA89-2D4D-F7B5-51AD22439D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29808" y="0"/>
            <a:ext cx="2332383" cy="1325563"/>
          </a:xfrm>
        </p:spPr>
        <p:txBody>
          <a:bodyPr/>
          <a:lstStyle/>
          <a:p>
            <a:r>
              <a:rPr lang="ru-RU" dirty="0"/>
              <a:t>Команда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DC2A55D-7927-3EF5-2CB4-F0F4137ECA62}"/>
              </a:ext>
            </a:extLst>
          </p:cNvPr>
          <p:cNvSpPr txBox="1"/>
          <p:nvPr/>
        </p:nvSpPr>
        <p:spPr>
          <a:xfrm>
            <a:off x="659297" y="5460963"/>
            <a:ext cx="318052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Лидер проекта. Писал программу, согласовывал работу.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11F4743-C488-DA7C-6185-94C5000AE3D2}"/>
              </a:ext>
            </a:extLst>
          </p:cNvPr>
          <p:cNvSpPr txBox="1"/>
          <p:nvPr/>
        </p:nvSpPr>
        <p:spPr>
          <a:xfrm>
            <a:off x="4714462" y="5460963"/>
            <a:ext cx="254772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Тестировщик, помогал в написании программы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6818099-06BD-21B2-2805-14069CC323D2}"/>
              </a:ext>
            </a:extLst>
          </p:cNvPr>
          <p:cNvSpPr txBox="1"/>
          <p:nvPr/>
        </p:nvSpPr>
        <p:spPr>
          <a:xfrm>
            <a:off x="8352183" y="5468991"/>
            <a:ext cx="318052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Копирайтер. Создатель документации и большей части презентации, 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0AD6EA3-5097-C6F8-D5E5-B5133CE72B7B}"/>
              </a:ext>
            </a:extLst>
          </p:cNvPr>
          <p:cNvSpPr txBox="1"/>
          <p:nvPr/>
        </p:nvSpPr>
        <p:spPr>
          <a:xfrm>
            <a:off x="8791326" y="2802834"/>
            <a:ext cx="23022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400" dirty="0"/>
              <a:t>Иван Чернышов</a:t>
            </a:r>
            <a:endParaRPr lang="en-US" sz="24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65EE43A-CA26-7BEF-ECBF-54FEAFCFB64B}"/>
              </a:ext>
            </a:extLst>
          </p:cNvPr>
          <p:cNvSpPr txBox="1"/>
          <p:nvPr/>
        </p:nvSpPr>
        <p:spPr>
          <a:xfrm>
            <a:off x="4846778" y="2802834"/>
            <a:ext cx="249844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400" dirty="0"/>
              <a:t>Данила Атаманов</a:t>
            </a:r>
            <a:endParaRPr lang="en-US" sz="24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B45755A-4400-CCD8-978F-5974BA96C63D}"/>
              </a:ext>
            </a:extLst>
          </p:cNvPr>
          <p:cNvSpPr txBox="1"/>
          <p:nvPr/>
        </p:nvSpPr>
        <p:spPr>
          <a:xfrm>
            <a:off x="1186894" y="2802834"/>
            <a:ext cx="212532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400" dirty="0"/>
              <a:t>Богдан Планов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41069717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A5D700-CE6E-3050-0764-52CB5B25BF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38085" y="0"/>
            <a:ext cx="2515829" cy="668594"/>
          </a:xfrm>
        </p:spPr>
        <p:txBody>
          <a:bodyPr>
            <a:normAutofit fontScale="90000"/>
          </a:bodyPr>
          <a:lstStyle/>
          <a:p>
            <a:r>
              <a:rPr lang="ru-RU" dirty="0"/>
              <a:t>Аннотация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9A942A6-8CB4-7B23-2DDE-C1535920952E}"/>
              </a:ext>
            </a:extLst>
          </p:cNvPr>
          <p:cNvSpPr txBox="1"/>
          <p:nvPr/>
        </p:nvSpPr>
        <p:spPr>
          <a:xfrm>
            <a:off x="1637068" y="668594"/>
            <a:ext cx="8917859" cy="24622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200" dirty="0"/>
              <a:t>Наша программа (</a:t>
            </a:r>
            <a:r>
              <a:rPr lang="en-US" sz="2200" dirty="0" err="1"/>
              <a:t>pdd</a:t>
            </a:r>
            <a:r>
              <a:rPr lang="en-US" sz="2200" dirty="0"/>
              <a:t> – professional disk diagnostic</a:t>
            </a:r>
            <a:r>
              <a:rPr lang="ru-RU" sz="2200" dirty="0"/>
              <a:t>)</a:t>
            </a:r>
            <a:r>
              <a:rPr lang="en-US" sz="2200" dirty="0"/>
              <a:t> </a:t>
            </a:r>
            <a:r>
              <a:rPr lang="ru-RU" sz="2200" dirty="0"/>
              <a:t>предназначена для глубокой диагностики накопителей (</a:t>
            </a:r>
            <a:r>
              <a:rPr lang="en-US" sz="2200" dirty="0"/>
              <a:t>HDD, SSD, NVME, Flash</a:t>
            </a:r>
            <a:r>
              <a:rPr lang="ru-RU" sz="2200" dirty="0"/>
              <a:t>)</a:t>
            </a:r>
            <a:r>
              <a:rPr lang="en-US" sz="2200" dirty="0"/>
              <a:t>. </a:t>
            </a:r>
            <a:r>
              <a:rPr lang="ru-RU" sz="2200" dirty="0"/>
              <a:t>Она может вывести подробную информацию о дисковой подсистеме (конфигурация, температура, ошибки ввода/вывода), замерить скорость чтения/записи, провести проверку на битые сектора, проанализировать использование места на диске, отформатировать его. Работает из терминала и устанавливается одной командой.</a:t>
            </a:r>
            <a:endParaRPr lang="en-US" sz="22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4A15736-758F-5A3F-9C4B-6DCB10CD5F0F}"/>
              </a:ext>
            </a:extLst>
          </p:cNvPr>
          <p:cNvSpPr txBox="1"/>
          <p:nvPr/>
        </p:nvSpPr>
        <p:spPr>
          <a:xfrm>
            <a:off x="1637067" y="3727194"/>
            <a:ext cx="891785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200" dirty="0"/>
              <a:t>Ожидаемая аудитория: системные администраторы ПК с </a:t>
            </a:r>
            <a:r>
              <a:rPr lang="en-US" sz="2200" dirty="0"/>
              <a:t>Linux, </a:t>
            </a:r>
            <a:r>
              <a:rPr lang="ru-RU" sz="2200" dirty="0"/>
              <a:t>пользователи </a:t>
            </a:r>
            <a:r>
              <a:rPr lang="en-US" sz="2200" dirty="0"/>
              <a:t>UNIX-</a:t>
            </a:r>
            <a:r>
              <a:rPr lang="ru-RU" sz="2200" dirty="0"/>
              <a:t>подобных ОС</a:t>
            </a:r>
            <a:endParaRPr lang="en-US" sz="2200" dirty="0"/>
          </a:p>
        </p:txBody>
      </p:sp>
      <p:pic>
        <p:nvPicPr>
          <p:cNvPr id="1026" name="Picture 2" descr="Почему linux должен быть единственной системой в образовательном процессе /  Хабр">
            <a:extLst>
              <a:ext uri="{FF2B5EF4-FFF2-40B4-BE49-F238E27FC236}">
                <a16:creationId xmlns:a16="http://schemas.microsoft.com/office/drawing/2014/main" id="{BD5A62D2-676F-15C0-B4B3-8FAFA5B12D5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57404" y="4496635"/>
            <a:ext cx="4277191" cy="23613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5212651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41135" y="0"/>
            <a:ext cx="3309730" cy="1325563"/>
          </a:xfrm>
        </p:spPr>
        <p:txBody>
          <a:bodyPr/>
          <a:lstStyle/>
          <a:p>
            <a:r>
              <a:rPr lang="ru-RU" altLang="en-GB" dirty="0"/>
              <a:t>Актуальность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253331"/>
            <a:ext cx="10515600" cy="4351338"/>
          </a:xfrm>
        </p:spPr>
        <p:txBody>
          <a:bodyPr/>
          <a:lstStyle/>
          <a:p>
            <a:r>
              <a:rPr lang="ru-RU" dirty="0"/>
              <a:t>Растущая популярность </a:t>
            </a:r>
            <a:r>
              <a:rPr lang="en-US" dirty="0"/>
              <a:t>Linux </a:t>
            </a:r>
            <a:r>
              <a:rPr lang="ru-RU" dirty="0"/>
              <a:t>на фоне проблем с</a:t>
            </a:r>
            <a:r>
              <a:rPr lang="en-US" altLang="ru-RU" dirty="0"/>
              <a:t> </a:t>
            </a:r>
            <a:r>
              <a:rPr lang="ru-RU" altLang="ru-RU" dirty="0"/>
              <a:t>новыми версиями</a:t>
            </a:r>
            <a:r>
              <a:rPr lang="ru-RU" dirty="0"/>
              <a:t> </a:t>
            </a:r>
            <a:r>
              <a:rPr lang="en-US" dirty="0"/>
              <a:t>Windows</a:t>
            </a:r>
            <a:r>
              <a:rPr lang="ru-RU" altLang="en-US" dirty="0"/>
              <a:t>,</a:t>
            </a:r>
            <a:r>
              <a:rPr lang="ru-RU" dirty="0"/>
              <a:t> ограничением услуг </a:t>
            </a:r>
            <a:r>
              <a:rPr lang="en-US" dirty="0"/>
              <a:t>Microsoft</a:t>
            </a:r>
            <a:r>
              <a:rPr lang="ru-RU" altLang="en-US" dirty="0"/>
              <a:t> и переводом многих компьютеров на </a:t>
            </a:r>
            <a:r>
              <a:rPr lang="en-US" altLang="en-US" dirty="0"/>
              <a:t>Astra Linux</a:t>
            </a:r>
            <a:r>
              <a:rPr lang="ru-RU" altLang="en-US" dirty="0"/>
              <a:t> в РФ</a:t>
            </a:r>
            <a:r>
              <a:rPr lang="en-US" altLang="en-US" dirty="0"/>
              <a:t>.</a:t>
            </a:r>
            <a:endParaRPr lang="en-US" dirty="0"/>
          </a:p>
          <a:p>
            <a:r>
              <a:rPr lang="ru-RU" dirty="0"/>
              <a:t>Узкий выбор и функционал аналогов продукта проекта, а также их узконаправленность и необходимость в наличии графической оболочки, а соответственно, отсутствие возможности использовать эти программы при проблемах с ней.</a:t>
            </a:r>
          </a:p>
          <a:p>
            <a:r>
              <a:rPr lang="ru-RU" altLang="ru-RU" dirty="0"/>
              <a:t>Нет единой программы для выполнения таких задач на разных ОС</a:t>
            </a:r>
            <a:endParaRPr lang="en-US" altLang="ru-RU" dirty="0"/>
          </a:p>
        </p:txBody>
      </p:sp>
      <p:pic>
        <p:nvPicPr>
          <p:cNvPr id="1026" name="Picture 2" descr="Лампочка – Бесплатные иконки: технологии">
            <a:extLst>
              <a:ext uri="{FF2B5EF4-FFF2-40B4-BE49-F238E27FC236}">
                <a16:creationId xmlns:a16="http://schemas.microsoft.com/office/drawing/2014/main" id="{E2B2E68E-A86F-D1C3-A146-4B4C8F96F5E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" y="5078896"/>
            <a:ext cx="1779104" cy="17791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34EB2182-B5B8-4771-8A6D-D3BEFD62E7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4840" y="2438400"/>
            <a:ext cx="4846320" cy="1981200"/>
          </a:xfrm>
        </p:spPr>
        <p:txBody>
          <a:bodyPr/>
          <a:lstStyle/>
          <a:p>
            <a:r>
              <a:rPr lang="ru-RU" b="1" dirty="0"/>
              <a:t>Цель:  </a:t>
            </a:r>
            <a:r>
              <a:rPr lang="ru-RU" dirty="0"/>
              <a:t>Создание и поддержка программы для глубокой диагностики дисков в среде GNU/Linux.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3677567B-340A-449A-91B2-D1A70F31B8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1005840"/>
            <a:ext cx="4846319" cy="4846319"/>
          </a:xfrm>
          <a:prstGeom prst="rect">
            <a:avLst/>
          </a:prstGeom>
          <a:effectLst>
            <a:glow>
              <a:schemeClr val="accent1"/>
            </a:glow>
            <a:reflection blurRad="228600" stA="65000" endPos="0" dist="2413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80338192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34EB2182-B5B8-4771-8A6D-D3BEFD62E7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7355" y="1699534"/>
            <a:ext cx="5081337" cy="4351338"/>
          </a:xfrm>
        </p:spPr>
        <p:txBody>
          <a:bodyPr>
            <a:normAutofit lnSpcReduction="10000"/>
          </a:bodyPr>
          <a:lstStyle/>
          <a:p>
            <a:r>
              <a:rPr lang="ru-RU" sz="2400" dirty="0"/>
              <a:t>1) Создать программу, совмещающую в себе несколько других</a:t>
            </a:r>
            <a:endParaRPr lang="en-US" sz="2400" dirty="0"/>
          </a:p>
          <a:p>
            <a:r>
              <a:rPr lang="ru-RU" sz="2400" dirty="0"/>
              <a:t>2) Использовать только стандартные инструменты</a:t>
            </a:r>
            <a:endParaRPr lang="en-US" sz="2400" dirty="0"/>
          </a:p>
          <a:p>
            <a:r>
              <a:rPr lang="ru-RU" sz="2400" dirty="0"/>
              <a:t>3) Убрать лишнее, оставив только функционал</a:t>
            </a:r>
            <a:endParaRPr lang="en-US" sz="2400" dirty="0"/>
          </a:p>
          <a:p>
            <a:r>
              <a:rPr lang="ru-RU" sz="2400" dirty="0"/>
              <a:t>4) Сделать программу легкой в портировании на UNIX-подобные ОС</a:t>
            </a:r>
            <a:endParaRPr lang="en-US" sz="2400" dirty="0"/>
          </a:p>
          <a:p>
            <a:r>
              <a:rPr lang="ru-RU" sz="2400" dirty="0"/>
              <a:t>5) Разнообразить выбор подобных программ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C0B18CC-C877-43B2-B08C-758DEB4103BA}"/>
              </a:ext>
            </a:extLst>
          </p:cNvPr>
          <p:cNvSpPr txBox="1"/>
          <p:nvPr/>
        </p:nvSpPr>
        <p:spPr>
          <a:xfrm>
            <a:off x="577355" y="807128"/>
            <a:ext cx="41605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200" dirty="0"/>
              <a:t>Задачи</a:t>
            </a:r>
            <a:r>
              <a:rPr lang="en-US" sz="3200" dirty="0"/>
              <a:t>:</a:t>
            </a:r>
            <a:endParaRPr lang="ru-RU" sz="3200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B79F22C9-0B4A-41A3-B036-44780EC4399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32582" t="-1672" b="-1"/>
          <a:stretch/>
        </p:blipFill>
        <p:spPr>
          <a:xfrm>
            <a:off x="5658692" y="-118872"/>
            <a:ext cx="6925056" cy="6976872"/>
          </a:xfrm>
          <a:prstGeom prst="rect">
            <a:avLst/>
          </a:prstGeom>
          <a:effectLst>
            <a:softEdge rad="0"/>
          </a:effectLst>
        </p:spPr>
      </p:pic>
    </p:spTree>
    <p:extLst>
      <p:ext uri="{BB962C8B-B14F-4D97-AF65-F5344CB8AC3E}">
        <p14:creationId xmlns:p14="http://schemas.microsoft.com/office/powerpoint/2010/main" val="383341359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860292-E752-791B-7787-01AD560BE8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13031" y="1"/>
            <a:ext cx="3365938" cy="777766"/>
          </a:xfrm>
        </p:spPr>
        <p:txBody>
          <a:bodyPr/>
          <a:lstStyle/>
          <a:p>
            <a:r>
              <a:rPr lang="en-US" dirty="0"/>
              <a:t>OTSW-</a:t>
            </a:r>
            <a:r>
              <a:rPr lang="ru-RU" dirty="0"/>
              <a:t>анализ</a:t>
            </a:r>
            <a:endParaRPr lang="en-US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4296F88E-E42F-7CCD-9E91-4D79173D24A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7026277"/>
              </p:ext>
            </p:extLst>
          </p:nvPr>
        </p:nvGraphicFramePr>
        <p:xfrm>
          <a:off x="588065" y="777767"/>
          <a:ext cx="11015870" cy="565599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07935">
                  <a:extLst>
                    <a:ext uri="{9D8B030D-6E8A-4147-A177-3AD203B41FA5}">
                      <a16:colId xmlns:a16="http://schemas.microsoft.com/office/drawing/2014/main" val="3129542506"/>
                    </a:ext>
                  </a:extLst>
                </a:gridCol>
                <a:gridCol w="5507935">
                  <a:extLst>
                    <a:ext uri="{9D8B030D-6E8A-4147-A177-3AD203B41FA5}">
                      <a16:colId xmlns:a16="http://schemas.microsoft.com/office/drawing/2014/main" val="3128442586"/>
                    </a:ext>
                  </a:extLst>
                </a:gridCol>
              </a:tblGrid>
              <a:tr h="779010">
                <a:tc>
                  <a:txBody>
                    <a:bodyPr/>
                    <a:lstStyle/>
                    <a:p>
                      <a:r>
                        <a:rPr lang="ru-RU" sz="2400" b="0" kern="0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O</a:t>
                      </a:r>
                      <a:r>
                        <a:rPr lang="ru-RU" sz="2400" b="0" kern="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 (возможности)</a:t>
                      </a:r>
                      <a:endParaRPr 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2400" b="0" kern="0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T</a:t>
                      </a:r>
                      <a:r>
                        <a:rPr lang="ru-RU" sz="2400" b="0" kern="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 (угрозы)</a:t>
                      </a:r>
                      <a:endParaRPr 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63816623"/>
                  </a:ext>
                </a:extLst>
              </a:tr>
              <a:tr h="696712">
                <a:tc>
                  <a:txBody>
                    <a:bodyPr/>
                    <a:lstStyle/>
                    <a:p>
                      <a:r>
                        <a:rPr lang="ru-RU" sz="2000" b="0" kern="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Разнообразие UNIX-подобных ОС</a:t>
                      </a:r>
                      <a:endParaRPr lang="en-US" sz="20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2000" b="0" kern="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Монополия Microsoft</a:t>
                      </a:r>
                      <a:endParaRPr lang="en-US" sz="20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345988"/>
                  </a:ext>
                </a:extLst>
              </a:tr>
              <a:tr h="696712">
                <a:tc>
                  <a:txBody>
                    <a:bodyPr/>
                    <a:lstStyle/>
                    <a:p>
                      <a:r>
                        <a:rPr lang="ru-RU" sz="2000" b="0" kern="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Стандартные библиотеки GNU</a:t>
                      </a:r>
                      <a:endParaRPr lang="en-US" sz="20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2000" b="0" kern="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Блокировки иностранных сервисов в РФ</a:t>
                      </a:r>
                      <a:endParaRPr lang="en-US" sz="20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91890429"/>
                  </a:ext>
                </a:extLst>
              </a:tr>
              <a:tr h="696712">
                <a:tc>
                  <a:txBody>
                    <a:bodyPr/>
                    <a:lstStyle/>
                    <a:p>
                      <a:r>
                        <a:rPr lang="ru-RU" sz="2000" b="0" kern="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Укрепление Linux на рынке</a:t>
                      </a:r>
                      <a:endParaRPr lang="en-US" sz="20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2000" b="0" kern="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Конкурентные аналоги</a:t>
                      </a:r>
                      <a:endParaRPr lang="en-US" sz="2000" b="1" kern="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2449548"/>
                  </a:ext>
                </a:extLst>
              </a:tr>
              <a:tr h="696712">
                <a:tc>
                  <a:txBody>
                    <a:bodyPr/>
                    <a:lstStyle/>
                    <a:p>
                      <a:r>
                        <a:rPr lang="ru-RU" sz="2400" b="0" kern="0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S</a:t>
                      </a:r>
                      <a:r>
                        <a:rPr lang="ru-RU" sz="2400" b="0" kern="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 (сильные стороны)</a:t>
                      </a:r>
                      <a:endParaRPr 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2400" b="0" kern="0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W</a:t>
                      </a:r>
                      <a:r>
                        <a:rPr lang="ru-RU" sz="2400" b="0" kern="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 (слабости)</a:t>
                      </a:r>
                      <a:endParaRPr 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7882847"/>
                  </a:ext>
                </a:extLst>
              </a:tr>
              <a:tr h="69671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2000" b="0" kern="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Использование базового </a:t>
                      </a:r>
                      <a:r>
                        <a:rPr lang="ru-RU" sz="2000" b="0" kern="0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C</a:t>
                      </a:r>
                      <a:endParaRPr lang="en-US" sz="20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2000" b="0" kern="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Недостаточное тестирование</a:t>
                      </a:r>
                      <a:endParaRPr lang="en-US" sz="20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607990"/>
                  </a:ext>
                </a:extLst>
              </a:tr>
              <a:tr h="696712">
                <a:tc>
                  <a:txBody>
                    <a:bodyPr/>
                    <a:lstStyle/>
                    <a:p>
                      <a:r>
                        <a:rPr lang="ru-RU" sz="2000" b="0" kern="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Совмещение функционала программ</a:t>
                      </a:r>
                      <a:endParaRPr lang="en-US" sz="20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2000" b="0" kern="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Ограниченность функционала</a:t>
                      </a:r>
                      <a:endParaRPr lang="en-US" sz="20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9764893"/>
                  </a:ext>
                </a:extLst>
              </a:tr>
              <a:tr h="69671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2000" b="0" kern="0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Портируемость</a:t>
                      </a:r>
                      <a:endParaRPr lang="en-US" sz="2000" b="1" kern="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2000" b="0" kern="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Требует работы в терминале</a:t>
                      </a:r>
                      <a:endParaRPr lang="en-US" sz="20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976413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9112053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D943821-AECF-4A55-8E12-49D7F394ED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13852" y="0"/>
            <a:ext cx="2564296" cy="1325563"/>
          </a:xfrm>
        </p:spPr>
        <p:txBody>
          <a:bodyPr>
            <a:normAutofit/>
          </a:bodyPr>
          <a:lstStyle/>
          <a:p>
            <a:r>
              <a:rPr lang="ru-RU" sz="3200" dirty="0"/>
              <a:t>График </a:t>
            </a:r>
            <a:r>
              <a:rPr lang="ru-RU" sz="3200" dirty="0" err="1"/>
              <a:t>Ганта</a:t>
            </a:r>
            <a:endParaRPr lang="ru-RU" sz="3200" dirty="0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D147E087-4B5C-4092-AEAD-DF84798A62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223224"/>
            <a:ext cx="12205293" cy="24115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546461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D943821-AECF-4A55-8E12-49D7F394ED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09103" y="99391"/>
            <a:ext cx="4173794" cy="511277"/>
          </a:xfrm>
        </p:spPr>
        <p:txBody>
          <a:bodyPr>
            <a:normAutofit fontScale="90000"/>
          </a:bodyPr>
          <a:lstStyle/>
          <a:p>
            <a:r>
              <a:rPr lang="ru-RU" sz="4000" b="1" dirty="0"/>
              <a:t>Сравнение аналогов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218C7E40-AF7A-30D5-DDED-E3BA7EDA113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81586978"/>
              </p:ext>
            </p:extLst>
          </p:nvPr>
        </p:nvGraphicFramePr>
        <p:xfrm>
          <a:off x="0" y="775251"/>
          <a:ext cx="12192000" cy="608274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053469033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26983107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5852980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291887405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75410463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2114634"/>
                    </a:ext>
                  </a:extLst>
                </a:gridCol>
              </a:tblGrid>
              <a:tr h="1190813">
                <a:tc>
                  <a:txBody>
                    <a:bodyPr/>
                    <a:lstStyle/>
                    <a:p>
                      <a:r>
                        <a:rPr lang="ru-RU" dirty="0"/>
                        <a:t>Название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Функционал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Платформа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Работа через </a:t>
                      </a:r>
                      <a:r>
                        <a:rPr lang="en-US" dirty="0"/>
                        <a:t>CLI (Command Line Interface)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Язык программирования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Внешние зависимости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87602508"/>
                  </a:ext>
                </a:extLst>
              </a:tr>
              <a:tr h="1297860">
                <a:tc>
                  <a:txBody>
                    <a:bodyPr/>
                    <a:lstStyle/>
                    <a:p>
                      <a:r>
                        <a:rPr lang="ru-RU" sz="18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CrystalDiskInfo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Очень подробная информация о диске и его состоянии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Windows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Нет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C++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Нет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778247"/>
                  </a:ext>
                </a:extLst>
              </a:tr>
              <a:tr h="998354">
                <a:tc>
                  <a:txBody>
                    <a:bodyPr/>
                    <a:lstStyle/>
                    <a:p>
                      <a:r>
                        <a:rPr lang="ru-RU" sz="18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CrystalDisk</a:t>
                      </a:r>
                      <a:r>
                        <a:rPr lang="en-US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Mark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Настраиваемые замеры скорости диска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Windows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Нет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C++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Нет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30674983"/>
                  </a:ext>
                </a:extLst>
              </a:tr>
              <a:tr h="1297860">
                <a:tc>
                  <a:txBody>
                    <a:bodyPr/>
                    <a:lstStyle/>
                    <a:p>
                      <a:r>
                        <a:rPr lang="en-US" dirty="0"/>
                        <a:t>Baobab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 err="1"/>
                        <a:t>Анализация</a:t>
                      </a:r>
                      <a:r>
                        <a:rPr lang="ru-RU" dirty="0"/>
                        <a:t> использования дискового пространства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GNU/Linux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Только вывод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Vala+GTK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Gtk3, </a:t>
                      </a:r>
                      <a:r>
                        <a:rPr lang="en-US" dirty="0" err="1"/>
                        <a:t>gvfs</a:t>
                      </a:r>
                      <a:r>
                        <a:rPr lang="en-US" dirty="0"/>
                        <a:t>, gnome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77670672"/>
                  </a:ext>
                </a:extLst>
              </a:tr>
              <a:tr h="1297860">
                <a:tc>
                  <a:txBody>
                    <a:bodyPr/>
                    <a:lstStyle/>
                    <a:p>
                      <a:r>
                        <a:rPr lang="en-US" dirty="0"/>
                        <a:t>PDD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Совмещение частей вышеперечисленного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GNU/Linux (</a:t>
                      </a:r>
                      <a:r>
                        <a:rPr lang="ru-RU" dirty="0"/>
                        <a:t>в будущем другие </a:t>
                      </a:r>
                      <a:r>
                        <a:rPr lang="en-US" dirty="0"/>
                        <a:t>Unix-</a:t>
                      </a:r>
                      <a:r>
                        <a:rPr lang="ru-RU" dirty="0"/>
                        <a:t>подобные ОС</a:t>
                      </a:r>
                      <a:r>
                        <a:rPr lang="en-US" dirty="0"/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Есть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Нет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6831805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1698381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D943821-AECF-4A55-8E12-49D7F394ED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33358" y="238540"/>
            <a:ext cx="5125279" cy="764999"/>
          </a:xfrm>
        </p:spPr>
        <p:txBody>
          <a:bodyPr>
            <a:normAutofit/>
          </a:bodyPr>
          <a:lstStyle/>
          <a:p>
            <a:r>
              <a:rPr lang="ru-RU" sz="4000" dirty="0"/>
              <a:t>Дальнейшее  развитие</a:t>
            </a:r>
          </a:p>
        </p:txBody>
      </p:sp>
      <p:pic>
        <p:nvPicPr>
          <p:cNvPr id="2050" name="Picture 2" descr="Развитие">
            <a:extLst>
              <a:ext uri="{FF2B5EF4-FFF2-40B4-BE49-F238E27FC236}">
                <a16:creationId xmlns:a16="http://schemas.microsoft.com/office/drawing/2014/main" id="{FDC0DFEF-B865-A3A4-4B8C-50327729B1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42004" y="4154557"/>
            <a:ext cx="2449995" cy="27034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17A9FA7-B1B1-62D8-C2C2-58149670A106}"/>
              </a:ext>
            </a:extLst>
          </p:cNvPr>
          <p:cNvSpPr txBox="1"/>
          <p:nvPr/>
        </p:nvSpPr>
        <p:spPr>
          <a:xfrm>
            <a:off x="1592745" y="1859339"/>
            <a:ext cx="9006507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/>
              <a:t>PDD</a:t>
            </a:r>
            <a:r>
              <a:rPr lang="ru-RU" sz="2200" dirty="0"/>
              <a:t> будет развиваться постепенно: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200" dirty="0"/>
              <a:t>Будут добавляться новые команды: получение процента </a:t>
            </a:r>
            <a:r>
              <a:rPr lang="en-US" sz="2200" dirty="0"/>
              <a:t>S.M.A.R.T., </a:t>
            </a:r>
            <a:r>
              <a:rPr lang="ru-RU" sz="2200" dirty="0"/>
              <a:t>времени наработки, объём записанных данных и подобные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200" dirty="0"/>
              <a:t>Будет порт для </a:t>
            </a:r>
            <a:r>
              <a:rPr lang="en-US" sz="2200" dirty="0"/>
              <a:t>MacOS, FreeBSD </a:t>
            </a:r>
            <a:r>
              <a:rPr lang="ru-RU" sz="2200" dirty="0"/>
              <a:t>и других </a:t>
            </a:r>
            <a:r>
              <a:rPr lang="en-US" sz="2200" dirty="0"/>
              <a:t>UNIX-</a:t>
            </a:r>
            <a:r>
              <a:rPr lang="ru-RU" sz="2200" dirty="0" err="1"/>
              <a:t>овых</a:t>
            </a:r>
            <a:r>
              <a:rPr lang="ru-RU" sz="2200" dirty="0"/>
              <a:t> ОС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200" dirty="0"/>
              <a:t>Планируется добавление более низкоуровневых функций, а также поддержки других архитектур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200" dirty="0"/>
              <a:t>Будут собираться отчеты об ошибках и исправляться баги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200" dirty="0"/>
              <a:t>Планируется добавление этой программы в репозитории пакетных менеджеров (</a:t>
            </a:r>
            <a:r>
              <a:rPr lang="en-US" sz="2200" dirty="0"/>
              <a:t>apt, </a:t>
            </a:r>
            <a:r>
              <a:rPr lang="en-US" sz="2200" dirty="0" err="1"/>
              <a:t>pacman</a:t>
            </a:r>
            <a:r>
              <a:rPr lang="en-US" sz="2200" dirty="0"/>
              <a:t>, emerge, </a:t>
            </a:r>
            <a:r>
              <a:rPr lang="en-US" sz="2200" dirty="0" err="1"/>
              <a:t>dnf</a:t>
            </a:r>
            <a:r>
              <a:rPr lang="en-US" sz="2200" dirty="0"/>
              <a:t> </a:t>
            </a:r>
            <a:r>
              <a:rPr lang="ru-RU" sz="2200" dirty="0"/>
              <a:t>и других)</a:t>
            </a:r>
            <a:endParaRPr lang="en-US" sz="2200" dirty="0"/>
          </a:p>
        </p:txBody>
      </p:sp>
    </p:spTree>
    <p:extLst>
      <p:ext uri="{BB962C8B-B14F-4D97-AF65-F5344CB8AC3E}">
        <p14:creationId xmlns:p14="http://schemas.microsoft.com/office/powerpoint/2010/main" val="196124831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D943821-AECF-4A55-8E12-49D7F394ED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59408" y="2766218"/>
            <a:ext cx="8900160" cy="1325563"/>
          </a:xfrm>
        </p:spPr>
        <p:txBody>
          <a:bodyPr/>
          <a:lstStyle/>
          <a:p>
            <a:r>
              <a:rPr lang="ru-RU" dirty="0"/>
              <a:t>Спасибо за внимание!</a:t>
            </a:r>
          </a:p>
        </p:txBody>
      </p:sp>
      <p:pic>
        <p:nvPicPr>
          <p:cNvPr id="4" name="Picture 3" descr="A qr code with a few black squares&#10;&#10;AI-generated content may be incorrect.">
            <a:extLst>
              <a:ext uri="{FF2B5EF4-FFF2-40B4-BE49-F238E27FC236}">
                <a16:creationId xmlns:a16="http://schemas.microsoft.com/office/drawing/2014/main" id="{1BCFA2C3-0497-CAA5-FD7A-A8CB123723A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09338" y="1187668"/>
            <a:ext cx="4482662" cy="448266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C3BFE98-C350-885B-94B0-F90C27C73478}"/>
              </a:ext>
            </a:extLst>
          </p:cNvPr>
          <p:cNvSpPr txBox="1"/>
          <p:nvPr/>
        </p:nvSpPr>
        <p:spPr>
          <a:xfrm>
            <a:off x="9268431" y="818336"/>
            <a:ext cx="13644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Наш </a:t>
            </a:r>
            <a:r>
              <a:rPr lang="en-US" dirty="0" err="1"/>
              <a:t>Github</a:t>
            </a:r>
            <a:r>
              <a:rPr lang="en-US" dirty="0"/>
              <a:t>:</a:t>
            </a:r>
          </a:p>
        </p:txBody>
      </p:sp>
      <p:pic>
        <p:nvPicPr>
          <p:cNvPr id="2052" name="Picture 4" descr="Gnu logo - Free Icon PNG, SVG">
            <a:extLst>
              <a:ext uri="{FF2B5EF4-FFF2-40B4-BE49-F238E27FC236}">
                <a16:creationId xmlns:a16="http://schemas.microsoft.com/office/drawing/2014/main" id="{393C2445-745E-64E0-6EE1-CAB0D4221B8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967" y="5532435"/>
            <a:ext cx="1337441" cy="13374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933805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337</TotalTime>
  <Words>501</Words>
  <Application>Microsoft Macintosh PowerPoint</Application>
  <PresentationFormat>Widescreen</PresentationFormat>
  <Paragraphs>83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Arial</vt:lpstr>
      <vt:lpstr>Calibri</vt:lpstr>
      <vt:lpstr>Calibri Light</vt:lpstr>
      <vt:lpstr>Times New Roman</vt:lpstr>
      <vt:lpstr>Тема Office</vt:lpstr>
      <vt:lpstr>Создание программы для глубокой диагностики дисков – pdd</vt:lpstr>
      <vt:lpstr>Команда</vt:lpstr>
      <vt:lpstr>Аннотация</vt:lpstr>
      <vt:lpstr>Актуальность</vt:lpstr>
      <vt:lpstr>PowerPoint Presentation</vt:lpstr>
      <vt:lpstr>PowerPoint Presentation</vt:lpstr>
      <vt:lpstr>OTSW-анализ</vt:lpstr>
      <vt:lpstr>График Ганта</vt:lpstr>
      <vt:lpstr>Сравнение аналогов</vt:lpstr>
      <vt:lpstr>Дальнейшее  развитие</vt:lpstr>
      <vt:lpstr>Спасибо за внимание!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Создание программы для глубокой диагностики дисков – pdd</dc:title>
  <dc:creator>Иван</dc:creator>
  <cp:lastModifiedBy>Nigrilla</cp:lastModifiedBy>
  <cp:revision>19</cp:revision>
  <dcterms:created xsi:type="dcterms:W3CDTF">2026-03-01T07:13:28Z</dcterms:created>
  <dcterms:modified xsi:type="dcterms:W3CDTF">2026-03-03T14:32:49Z</dcterms:modified>
</cp:coreProperties>
</file>